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nton" charset="1" panose="00000500000000000000"/>
      <p:regular r:id="rId14"/>
    </p:embeddedFont>
    <p:embeddedFont>
      <p:font typeface="Inter" charset="1" panose="020B0502030000000004"/>
      <p:regular r:id="rId15"/>
    </p:embeddedFont>
    <p:embeddedFont>
      <p:font typeface="Inter Medium" charset="1" panose="020005030000000200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92907" y="2333960"/>
            <a:ext cx="5451344" cy="6924340"/>
          </a:xfrm>
          <a:custGeom>
            <a:avLst/>
            <a:gdLst/>
            <a:ahLst/>
            <a:cxnLst/>
            <a:rect r="r" b="b" t="t" l="l"/>
            <a:pathLst>
              <a:path h="6924340" w="5451344">
                <a:moveTo>
                  <a:pt x="0" y="0"/>
                </a:moveTo>
                <a:lnTo>
                  <a:pt x="5451344" y="0"/>
                </a:lnTo>
                <a:lnTo>
                  <a:pt x="5451344" y="6924340"/>
                </a:lnTo>
                <a:lnTo>
                  <a:pt x="0" y="6924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78324">
            <a:off x="1153800" y="7869185"/>
            <a:ext cx="969389" cy="1306774"/>
          </a:xfrm>
          <a:custGeom>
            <a:avLst/>
            <a:gdLst/>
            <a:ahLst/>
            <a:cxnLst/>
            <a:rect r="r" b="b" t="t" l="l"/>
            <a:pathLst>
              <a:path h="1306774" w="969389">
                <a:moveTo>
                  <a:pt x="0" y="0"/>
                </a:moveTo>
                <a:lnTo>
                  <a:pt x="969389" y="0"/>
                </a:lnTo>
                <a:lnTo>
                  <a:pt x="969389" y="1306774"/>
                </a:lnTo>
                <a:lnTo>
                  <a:pt x="0" y="13067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14666" y="2166144"/>
            <a:ext cx="1127677" cy="1127677"/>
          </a:xfrm>
          <a:custGeom>
            <a:avLst/>
            <a:gdLst/>
            <a:ahLst/>
            <a:cxnLst/>
            <a:rect r="r" b="b" t="t" l="l"/>
            <a:pathLst>
              <a:path h="1127677" w="1127677">
                <a:moveTo>
                  <a:pt x="0" y="0"/>
                </a:moveTo>
                <a:lnTo>
                  <a:pt x="1127677" y="0"/>
                </a:lnTo>
                <a:lnTo>
                  <a:pt x="1127677" y="1127677"/>
                </a:lnTo>
                <a:lnTo>
                  <a:pt x="0" y="11276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9465079" y="3053951"/>
            <a:ext cx="7107899" cy="3152775"/>
          </a:xfrm>
          <a:prstGeom prst="rect">
            <a:avLst/>
          </a:prstGeom>
        </p:spPr>
        <p:txBody>
          <a:bodyPr anchor="t" rtlCol="false" tIns="0" lIns="0" bIns="0" rIns="0">
            <a:spAutoFit/>
          </a:bodyPr>
          <a:lstStyle/>
          <a:p>
            <a:pPr algn="l">
              <a:lnSpc>
                <a:spcPts val="12480"/>
              </a:lnSpc>
            </a:pPr>
            <a:r>
              <a:rPr lang="en-US" sz="10400">
                <a:solidFill>
                  <a:srgbClr val="000000"/>
                </a:solidFill>
                <a:latin typeface="Anton"/>
                <a:ea typeface="Anton"/>
                <a:cs typeface="Anton"/>
                <a:sym typeface="Anton"/>
              </a:rPr>
              <a:t>COMPUTER VISION</a:t>
            </a:r>
          </a:p>
        </p:txBody>
      </p:sp>
      <p:sp>
        <p:nvSpPr>
          <p:cNvPr name="TextBox 6" id="6"/>
          <p:cNvSpPr txBox="true"/>
          <p:nvPr/>
        </p:nvSpPr>
        <p:spPr>
          <a:xfrm rot="0">
            <a:off x="9465079" y="6307219"/>
            <a:ext cx="7107899"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Ekstraksi Fitur Warna &amp; Pixel Pada Dataset Buah Aple</a:t>
            </a:r>
          </a:p>
        </p:txBody>
      </p:sp>
      <p:sp>
        <p:nvSpPr>
          <p:cNvPr name="TextBox 7" id="7"/>
          <p:cNvSpPr txBox="true"/>
          <p:nvPr/>
        </p:nvSpPr>
        <p:spPr>
          <a:xfrm rot="0">
            <a:off x="1028700" y="981075"/>
            <a:ext cx="2306729" cy="365760"/>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Fradel and Spies</a:t>
            </a:r>
          </a:p>
        </p:txBody>
      </p:sp>
      <p:sp>
        <p:nvSpPr>
          <p:cNvPr name="TextBox 8" id="8"/>
          <p:cNvSpPr txBox="true"/>
          <p:nvPr/>
        </p:nvSpPr>
        <p:spPr>
          <a:xfrm rot="0">
            <a:off x="10875119" y="8892540"/>
            <a:ext cx="6384181" cy="365760"/>
          </a:xfrm>
          <a:prstGeom prst="rect">
            <a:avLst/>
          </a:prstGeom>
        </p:spPr>
        <p:txBody>
          <a:bodyPr anchor="t" rtlCol="false" tIns="0" lIns="0" bIns="0" rIns="0">
            <a:spAutoFit/>
          </a:bodyPr>
          <a:lstStyle/>
          <a:p>
            <a:pPr algn="r">
              <a:lnSpc>
                <a:spcPts val="2940"/>
              </a:lnSpc>
            </a:pPr>
            <a:r>
              <a:rPr lang="en-US" b="true" sz="2100">
                <a:solidFill>
                  <a:srgbClr val="000000"/>
                </a:solidFill>
                <a:latin typeface="Inter Medium"/>
                <a:ea typeface="Inter Medium"/>
                <a:cs typeface="Inter Medium"/>
                <a:sym typeface="Inter Medium"/>
              </a:rPr>
              <a:t>Presented by Febri Maulana Rokhman - 2318068</a:t>
            </a:r>
          </a:p>
        </p:txBody>
      </p:sp>
      <p:sp>
        <p:nvSpPr>
          <p:cNvPr name="TextBox 9" id="9"/>
          <p:cNvSpPr txBox="true"/>
          <p:nvPr/>
        </p:nvSpPr>
        <p:spPr>
          <a:xfrm rot="0">
            <a:off x="15897890" y="981075"/>
            <a:ext cx="1350178" cy="365760"/>
          </a:xfrm>
          <a:prstGeom prst="rect">
            <a:avLst/>
          </a:prstGeom>
        </p:spPr>
        <p:txBody>
          <a:bodyPr anchor="t" rtlCol="false" tIns="0" lIns="0" bIns="0" rIns="0">
            <a:spAutoFit/>
          </a:bodyPr>
          <a:lstStyle/>
          <a:p>
            <a:pPr algn="r">
              <a:lnSpc>
                <a:spcPts val="2940"/>
              </a:lnSpc>
            </a:pPr>
            <a:r>
              <a:rPr lang="en-US" b="true" sz="2100">
                <a:solidFill>
                  <a:srgbClr val="000000"/>
                </a:solidFill>
                <a:latin typeface="Inter Medium"/>
                <a:ea typeface="Inter Medium"/>
                <a:cs typeface="Inter Medium"/>
                <a:sym typeface="Inter Medium"/>
              </a:rPr>
              <a:t>Page 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39403" y="2315859"/>
            <a:ext cx="4072789" cy="6942441"/>
            <a:chOff x="0" y="0"/>
            <a:chExt cx="476830" cy="812800"/>
          </a:xfrm>
        </p:grpSpPr>
        <p:sp>
          <p:nvSpPr>
            <p:cNvPr name="Freeform 3" id="3"/>
            <p:cNvSpPr/>
            <p:nvPr/>
          </p:nvSpPr>
          <p:spPr>
            <a:xfrm flipH="false" flipV="false" rot="0">
              <a:off x="0" y="0"/>
              <a:ext cx="476830" cy="812800"/>
            </a:xfrm>
            <a:custGeom>
              <a:avLst/>
              <a:gdLst/>
              <a:ahLst/>
              <a:cxnLst/>
              <a:rect r="r" b="b" t="t" l="l"/>
              <a:pathLst>
                <a:path h="812800" w="476830">
                  <a:moveTo>
                    <a:pt x="0" y="0"/>
                  </a:moveTo>
                  <a:lnTo>
                    <a:pt x="476830" y="0"/>
                  </a:lnTo>
                  <a:lnTo>
                    <a:pt x="476830" y="812800"/>
                  </a:lnTo>
                  <a:lnTo>
                    <a:pt x="0" y="812800"/>
                  </a:lnTo>
                  <a:close/>
                </a:path>
              </a:pathLst>
            </a:custGeom>
            <a:blipFill>
              <a:blip r:embed="rId2"/>
              <a:stretch>
                <a:fillRect l="-6819" t="0" r="-6819" b="0"/>
              </a:stretch>
            </a:blipFill>
            <a:ln w="38100" cap="sq">
              <a:solidFill>
                <a:srgbClr val="000000"/>
              </a:solidFill>
              <a:prstDash val="solid"/>
              <a:miter/>
            </a:ln>
          </p:spPr>
        </p:sp>
      </p:grpSp>
      <p:grpSp>
        <p:nvGrpSpPr>
          <p:cNvPr name="Group 4" id="4"/>
          <p:cNvGrpSpPr/>
          <p:nvPr/>
        </p:nvGrpSpPr>
        <p:grpSpPr>
          <a:xfrm rot="0">
            <a:off x="13186511" y="2315859"/>
            <a:ext cx="4072789" cy="6942441"/>
            <a:chOff x="0" y="0"/>
            <a:chExt cx="476830" cy="812800"/>
          </a:xfrm>
        </p:grpSpPr>
        <p:sp>
          <p:nvSpPr>
            <p:cNvPr name="Freeform 5" id="5"/>
            <p:cNvSpPr/>
            <p:nvPr/>
          </p:nvSpPr>
          <p:spPr>
            <a:xfrm flipH="false" flipV="false" rot="0">
              <a:off x="0" y="0"/>
              <a:ext cx="476830" cy="812800"/>
            </a:xfrm>
            <a:custGeom>
              <a:avLst/>
              <a:gdLst/>
              <a:ahLst/>
              <a:cxnLst/>
              <a:rect r="r" b="b" t="t" l="l"/>
              <a:pathLst>
                <a:path h="812800" w="476830">
                  <a:moveTo>
                    <a:pt x="0" y="0"/>
                  </a:moveTo>
                  <a:lnTo>
                    <a:pt x="476830" y="0"/>
                  </a:lnTo>
                  <a:lnTo>
                    <a:pt x="476830" y="812800"/>
                  </a:lnTo>
                  <a:lnTo>
                    <a:pt x="0" y="812800"/>
                  </a:lnTo>
                  <a:close/>
                </a:path>
              </a:pathLst>
            </a:custGeom>
            <a:blipFill>
              <a:blip r:embed="rId3"/>
              <a:stretch>
                <a:fillRect l="-6871" t="0" r="-6871" b="0"/>
              </a:stretch>
            </a:blipFill>
            <a:ln w="38100" cap="sq">
              <a:solidFill>
                <a:srgbClr val="000000"/>
              </a:solidFill>
              <a:prstDash val="solid"/>
              <a:miter/>
            </a:ln>
          </p:spPr>
        </p:sp>
      </p:grpSp>
      <p:sp>
        <p:nvSpPr>
          <p:cNvPr name="Freeform 6" id="6"/>
          <p:cNvSpPr/>
          <p:nvPr/>
        </p:nvSpPr>
        <p:spPr>
          <a:xfrm flipH="false" flipV="false" rot="678324">
            <a:off x="8551985" y="7520200"/>
            <a:ext cx="774837" cy="1044510"/>
          </a:xfrm>
          <a:custGeom>
            <a:avLst/>
            <a:gdLst/>
            <a:ahLst/>
            <a:cxnLst/>
            <a:rect r="r" b="b" t="t" l="l"/>
            <a:pathLst>
              <a:path h="1044510" w="774837">
                <a:moveTo>
                  <a:pt x="0" y="0"/>
                </a:moveTo>
                <a:lnTo>
                  <a:pt x="774837" y="0"/>
                </a:lnTo>
                <a:lnTo>
                  <a:pt x="774837" y="1044510"/>
                </a:lnTo>
                <a:lnTo>
                  <a:pt x="0" y="1044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009896" y="2981695"/>
            <a:ext cx="498808" cy="849363"/>
          </a:xfrm>
          <a:custGeom>
            <a:avLst/>
            <a:gdLst/>
            <a:ahLst/>
            <a:cxnLst/>
            <a:rect r="r" b="b" t="t" l="l"/>
            <a:pathLst>
              <a:path h="849363" w="498808">
                <a:moveTo>
                  <a:pt x="0" y="0"/>
                </a:moveTo>
                <a:lnTo>
                  <a:pt x="498808" y="0"/>
                </a:lnTo>
                <a:lnTo>
                  <a:pt x="498808" y="849363"/>
                </a:lnTo>
                <a:lnTo>
                  <a:pt x="0" y="8493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28700"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744272"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459844"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028700" y="2315859"/>
            <a:ext cx="6335946" cy="24384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EKSTRAKSI TEXTURE</a:t>
            </a:r>
          </a:p>
        </p:txBody>
      </p:sp>
      <p:sp>
        <p:nvSpPr>
          <p:cNvPr name="TextBox 12" id="12"/>
          <p:cNvSpPr txBox="true"/>
          <p:nvPr/>
        </p:nvSpPr>
        <p:spPr>
          <a:xfrm rot="0">
            <a:off x="1028700" y="4914725"/>
            <a:ext cx="6335946" cy="219265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Eks</a:t>
            </a:r>
            <a:r>
              <a:rPr lang="en-US" sz="1800">
                <a:solidFill>
                  <a:srgbClr val="000000"/>
                </a:solidFill>
                <a:latin typeface="Inter"/>
                <a:ea typeface="Inter"/>
                <a:cs typeface="Inter"/>
                <a:sym typeface="Inter"/>
              </a:rPr>
              <a:t>traksi fitur tekstur adalah proses dalam pengolahan citra digital untuk mengambil atau mendeskripsikan karakteristik struktural permukaan objek, seperti kekasaran, kehalusan, kepadatan, atau keteraturan pola piksel. Teknik ini mengubah informasi visual tekstur menjadi representasi numerik untuk keperluan analisis, klasifikasi citra, atau deteksi objek.</a:t>
            </a:r>
          </a:p>
        </p:txBody>
      </p:sp>
      <p:sp>
        <p:nvSpPr>
          <p:cNvPr name="TextBox 13" id="13"/>
          <p:cNvSpPr txBox="true"/>
          <p:nvPr/>
        </p:nvSpPr>
        <p:spPr>
          <a:xfrm rot="0">
            <a:off x="1028700" y="981075"/>
            <a:ext cx="2306729" cy="365760"/>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Fradel and Spies</a:t>
            </a:r>
          </a:p>
        </p:txBody>
      </p:sp>
      <p:sp>
        <p:nvSpPr>
          <p:cNvPr name="TextBox 14" id="14"/>
          <p:cNvSpPr txBox="true"/>
          <p:nvPr/>
        </p:nvSpPr>
        <p:spPr>
          <a:xfrm rot="0">
            <a:off x="15897890" y="981075"/>
            <a:ext cx="1350178" cy="365760"/>
          </a:xfrm>
          <a:prstGeom prst="rect">
            <a:avLst/>
          </a:prstGeom>
        </p:spPr>
        <p:txBody>
          <a:bodyPr anchor="t" rtlCol="false" tIns="0" lIns="0" bIns="0" rIns="0">
            <a:spAutoFit/>
          </a:bodyPr>
          <a:lstStyle/>
          <a:p>
            <a:pPr algn="r">
              <a:lnSpc>
                <a:spcPts val="2940"/>
              </a:lnSpc>
            </a:pPr>
            <a:r>
              <a:rPr lang="en-US" b="true" sz="2100">
                <a:solidFill>
                  <a:srgbClr val="000000"/>
                </a:solidFill>
                <a:latin typeface="Inter Medium"/>
                <a:ea typeface="Inter Medium"/>
                <a:cs typeface="Inter Medium"/>
                <a:sym typeface="Inter Medium"/>
              </a:rPr>
              <a:t>Page 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295750"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011322"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726894"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678324">
            <a:off x="641282" y="3079394"/>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335128" y="8992097"/>
            <a:ext cx="498808" cy="849363"/>
          </a:xfrm>
          <a:custGeom>
            <a:avLst/>
            <a:gdLst/>
            <a:ahLst/>
            <a:cxnLst/>
            <a:rect r="r" b="b" t="t" l="l"/>
            <a:pathLst>
              <a:path h="849363" w="498808">
                <a:moveTo>
                  <a:pt x="0" y="0"/>
                </a:moveTo>
                <a:lnTo>
                  <a:pt x="498808" y="0"/>
                </a:lnTo>
                <a:lnTo>
                  <a:pt x="498808" y="849363"/>
                </a:lnTo>
                <a:lnTo>
                  <a:pt x="0" y="8493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957938" y="3160758"/>
            <a:ext cx="6543964" cy="1982742"/>
          </a:xfrm>
          <a:custGeom>
            <a:avLst/>
            <a:gdLst/>
            <a:ahLst/>
            <a:cxnLst/>
            <a:rect r="r" b="b" t="t" l="l"/>
            <a:pathLst>
              <a:path h="1982742" w="6543964">
                <a:moveTo>
                  <a:pt x="0" y="0"/>
                </a:moveTo>
                <a:lnTo>
                  <a:pt x="6543963" y="0"/>
                </a:lnTo>
                <a:lnTo>
                  <a:pt x="6543963" y="1982742"/>
                </a:lnTo>
                <a:lnTo>
                  <a:pt x="0" y="1982742"/>
                </a:lnTo>
                <a:lnTo>
                  <a:pt x="0" y="0"/>
                </a:lnTo>
                <a:close/>
              </a:path>
            </a:pathLst>
          </a:custGeom>
          <a:blipFill>
            <a:blip r:embed="rId8"/>
            <a:stretch>
              <a:fillRect l="-6830" t="0" r="-62144" b="0"/>
            </a:stretch>
          </a:blipFill>
        </p:spPr>
      </p:sp>
      <p:sp>
        <p:nvSpPr>
          <p:cNvPr name="Freeform 8" id="8"/>
          <p:cNvSpPr/>
          <p:nvPr/>
        </p:nvSpPr>
        <p:spPr>
          <a:xfrm flipH="false" flipV="false" rot="0">
            <a:off x="1957938" y="7844867"/>
            <a:ext cx="12414379" cy="1147230"/>
          </a:xfrm>
          <a:custGeom>
            <a:avLst/>
            <a:gdLst/>
            <a:ahLst/>
            <a:cxnLst/>
            <a:rect r="r" b="b" t="t" l="l"/>
            <a:pathLst>
              <a:path h="1147230" w="12414379">
                <a:moveTo>
                  <a:pt x="0" y="0"/>
                </a:moveTo>
                <a:lnTo>
                  <a:pt x="12414379" y="0"/>
                </a:lnTo>
                <a:lnTo>
                  <a:pt x="12414379" y="1147230"/>
                </a:lnTo>
                <a:lnTo>
                  <a:pt x="0" y="1147230"/>
                </a:lnTo>
                <a:lnTo>
                  <a:pt x="0" y="0"/>
                </a:lnTo>
                <a:close/>
              </a:path>
            </a:pathLst>
          </a:custGeom>
          <a:blipFill>
            <a:blip r:embed="rId9"/>
            <a:stretch>
              <a:fillRect l="-6077" t="-10636" r="-5649" b="-4220"/>
            </a:stretch>
          </a:blipFill>
        </p:spPr>
      </p:sp>
      <p:sp>
        <p:nvSpPr>
          <p:cNvPr name="TextBox 9" id="9"/>
          <p:cNvSpPr txBox="true"/>
          <p:nvPr/>
        </p:nvSpPr>
        <p:spPr>
          <a:xfrm rot="0">
            <a:off x="1028700" y="981075"/>
            <a:ext cx="2306729" cy="365760"/>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Fradel and Spies</a:t>
            </a:r>
          </a:p>
        </p:txBody>
      </p:sp>
      <p:sp>
        <p:nvSpPr>
          <p:cNvPr name="TextBox 10" id="10"/>
          <p:cNvSpPr txBox="true"/>
          <p:nvPr/>
        </p:nvSpPr>
        <p:spPr>
          <a:xfrm rot="0">
            <a:off x="15897890" y="981075"/>
            <a:ext cx="1350178" cy="365760"/>
          </a:xfrm>
          <a:prstGeom prst="rect">
            <a:avLst/>
          </a:prstGeom>
        </p:spPr>
        <p:txBody>
          <a:bodyPr anchor="t" rtlCol="false" tIns="0" lIns="0" bIns="0" rIns="0">
            <a:spAutoFit/>
          </a:bodyPr>
          <a:lstStyle/>
          <a:p>
            <a:pPr algn="r">
              <a:lnSpc>
                <a:spcPts val="2940"/>
              </a:lnSpc>
            </a:pPr>
            <a:r>
              <a:rPr lang="en-US" b="true" sz="2100">
                <a:solidFill>
                  <a:srgbClr val="000000"/>
                </a:solidFill>
                <a:latin typeface="Inter Medium"/>
                <a:ea typeface="Inter Medium"/>
                <a:cs typeface="Inter Medium"/>
                <a:sym typeface="Inter Medium"/>
              </a:rPr>
              <a:t>Page 03</a:t>
            </a:r>
          </a:p>
        </p:txBody>
      </p:sp>
      <p:sp>
        <p:nvSpPr>
          <p:cNvPr name="TextBox 11" id="11"/>
          <p:cNvSpPr txBox="true"/>
          <p:nvPr/>
        </p:nvSpPr>
        <p:spPr>
          <a:xfrm rot="0">
            <a:off x="10237032" y="1747838"/>
            <a:ext cx="4596903" cy="1612254"/>
          </a:xfrm>
          <a:prstGeom prst="rect">
            <a:avLst/>
          </a:prstGeom>
        </p:spPr>
        <p:txBody>
          <a:bodyPr anchor="t" rtlCol="false" tIns="0" lIns="0" bIns="0" rIns="0">
            <a:spAutoFit/>
          </a:bodyPr>
          <a:lstStyle/>
          <a:p>
            <a:pPr algn="l">
              <a:lnSpc>
                <a:spcPts val="6309"/>
              </a:lnSpc>
            </a:pPr>
            <a:r>
              <a:rPr lang="en-US" sz="5258">
                <a:solidFill>
                  <a:srgbClr val="000000"/>
                </a:solidFill>
                <a:latin typeface="Anton"/>
                <a:ea typeface="Anton"/>
                <a:cs typeface="Anton"/>
                <a:sym typeface="Anton"/>
              </a:rPr>
              <a:t>IMPORT &amp; MOUNT GOOGLE DRIVE</a:t>
            </a:r>
          </a:p>
        </p:txBody>
      </p:sp>
      <p:sp>
        <p:nvSpPr>
          <p:cNvPr name="TextBox 12" id="12"/>
          <p:cNvSpPr txBox="true"/>
          <p:nvPr/>
        </p:nvSpPr>
        <p:spPr>
          <a:xfrm rot="0">
            <a:off x="10237032" y="3702992"/>
            <a:ext cx="6335946" cy="3764280"/>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Source c</a:t>
            </a:r>
            <a:r>
              <a:rPr lang="en-US" sz="1800">
                <a:solidFill>
                  <a:srgbClr val="000000"/>
                </a:solidFill>
                <a:latin typeface="Inter"/>
                <a:ea typeface="Inter"/>
                <a:cs typeface="Inter"/>
                <a:sym typeface="Inter"/>
              </a:rPr>
              <a:t>ode tersebut digunakan untuk mempersiapkan proses ekstraksi fitur citra di lingkungan Google Colab. Library cv2 (OpenCV) digunakan untuk pengolahan gambar, numpy untuk operasi numerik, pandas untuk pengelolaan data, dan os untuk mengakses file dalam direktori. Kemudian, drive.mount('/content/drive') berfungsi untuk menghubungkan Google Colab dengan Google Drive agar dataset gambar dapat diakses secara langsung. Variabel folder_path digunakan untuk menentukan lokasi folder di Google Drive yang berisi kumpulan citra yang akan diproses lebih lanjut, misalnya untuk ekstraksi fitur seperti warna, tekstur, atau bentuk.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295750"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011322"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726894"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678324">
            <a:off x="748546" y="8459969"/>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182064" y="8581488"/>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665974" y="1463274"/>
            <a:ext cx="8956052" cy="3470470"/>
          </a:xfrm>
          <a:custGeom>
            <a:avLst/>
            <a:gdLst/>
            <a:ahLst/>
            <a:cxnLst/>
            <a:rect r="r" b="b" t="t" l="l"/>
            <a:pathLst>
              <a:path h="3470470" w="8956052">
                <a:moveTo>
                  <a:pt x="0" y="0"/>
                </a:moveTo>
                <a:lnTo>
                  <a:pt x="8956052" y="0"/>
                </a:lnTo>
                <a:lnTo>
                  <a:pt x="8956052" y="3470470"/>
                </a:lnTo>
                <a:lnTo>
                  <a:pt x="0" y="3470470"/>
                </a:lnTo>
                <a:lnTo>
                  <a:pt x="0" y="0"/>
                </a:lnTo>
                <a:close/>
              </a:path>
            </a:pathLst>
          </a:custGeom>
          <a:blipFill>
            <a:blip r:embed="rId8"/>
            <a:stretch>
              <a:fillRect l="0" t="0" r="0" b="0"/>
            </a:stretch>
          </a:blipFill>
        </p:spPr>
      </p:sp>
      <p:sp>
        <p:nvSpPr>
          <p:cNvPr name="TextBox 8" id="8"/>
          <p:cNvSpPr txBox="true"/>
          <p:nvPr/>
        </p:nvSpPr>
        <p:spPr>
          <a:xfrm rot="0">
            <a:off x="1028700" y="981075"/>
            <a:ext cx="2306729" cy="365760"/>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Fradel and Spies</a:t>
            </a:r>
          </a:p>
        </p:txBody>
      </p:sp>
      <p:sp>
        <p:nvSpPr>
          <p:cNvPr name="TextBox 9" id="9"/>
          <p:cNvSpPr txBox="true"/>
          <p:nvPr/>
        </p:nvSpPr>
        <p:spPr>
          <a:xfrm rot="0">
            <a:off x="15897890" y="981075"/>
            <a:ext cx="1350178" cy="365760"/>
          </a:xfrm>
          <a:prstGeom prst="rect">
            <a:avLst/>
          </a:prstGeom>
        </p:spPr>
        <p:txBody>
          <a:bodyPr anchor="t" rtlCol="false" tIns="0" lIns="0" bIns="0" rIns="0">
            <a:spAutoFit/>
          </a:bodyPr>
          <a:lstStyle/>
          <a:p>
            <a:pPr algn="r">
              <a:lnSpc>
                <a:spcPts val="2940"/>
              </a:lnSpc>
            </a:pPr>
            <a:r>
              <a:rPr lang="en-US" b="true" sz="2100">
                <a:solidFill>
                  <a:srgbClr val="000000"/>
                </a:solidFill>
                <a:latin typeface="Inter Medium"/>
                <a:ea typeface="Inter Medium"/>
                <a:cs typeface="Inter Medium"/>
                <a:sym typeface="Inter Medium"/>
              </a:rPr>
              <a:t>Page 04</a:t>
            </a:r>
          </a:p>
        </p:txBody>
      </p:sp>
      <p:sp>
        <p:nvSpPr>
          <p:cNvPr name="TextBox 10" id="10"/>
          <p:cNvSpPr txBox="true"/>
          <p:nvPr/>
        </p:nvSpPr>
        <p:spPr>
          <a:xfrm rot="0">
            <a:off x="6758949" y="5143500"/>
            <a:ext cx="5072865" cy="1262775"/>
          </a:xfrm>
          <a:prstGeom prst="rect">
            <a:avLst/>
          </a:prstGeom>
        </p:spPr>
        <p:txBody>
          <a:bodyPr anchor="t" rtlCol="false" tIns="0" lIns="0" bIns="0" rIns="0">
            <a:spAutoFit/>
          </a:bodyPr>
          <a:lstStyle/>
          <a:p>
            <a:pPr algn="l">
              <a:lnSpc>
                <a:spcPts val="4971"/>
              </a:lnSpc>
            </a:pPr>
            <a:r>
              <a:rPr lang="en-US" sz="4142">
                <a:solidFill>
                  <a:srgbClr val="000000"/>
                </a:solidFill>
                <a:latin typeface="Anton"/>
                <a:ea typeface="Anton"/>
                <a:cs typeface="Anton"/>
                <a:sym typeface="Anton"/>
              </a:rPr>
              <a:t>MELAKUKAN KONVERSI CITRA BGR KE GRAYSCALE</a:t>
            </a:r>
          </a:p>
        </p:txBody>
      </p:sp>
      <p:sp>
        <p:nvSpPr>
          <p:cNvPr name="TextBox 11" id="11"/>
          <p:cNvSpPr txBox="true"/>
          <p:nvPr/>
        </p:nvSpPr>
        <p:spPr>
          <a:xfrm rot="0">
            <a:off x="4287153" y="6533239"/>
            <a:ext cx="10862975" cy="219265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S</a:t>
            </a:r>
            <a:r>
              <a:rPr lang="en-US" sz="1800">
                <a:solidFill>
                  <a:srgbClr val="000000"/>
                </a:solidFill>
                <a:latin typeface="Inter"/>
                <a:ea typeface="Inter"/>
                <a:cs typeface="Inter"/>
                <a:sym typeface="Inter"/>
              </a:rPr>
              <a:t>ource code tersebut berfungsi untuk mengolah dataset citra dengan cara mengubah semua gambar berwarna menjadi grayscale secara otomatis. Program melakukan perulangan pada seluruh file di dalam folder yang telah ditentukan (folder_path), lalu memfilter hanya file dengan ekstensi .jpg, .jpeg, dan .png. Setiap gambar dibaca menggunakan cv2.imread(), kemudian dikonversi dari format warna BGR ke grayscale menggunakan cv2.cvtColor(). Hasil konversi tersebut disimpan kembali ke folder yang sama dengan nama baru yang diawali “grayscale_”. Setelah setiap proses selesai, program menampilkan pesan bahwa file berhasil dikonversi.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09896" y="7761428"/>
            <a:ext cx="498808" cy="849363"/>
          </a:xfrm>
          <a:custGeom>
            <a:avLst/>
            <a:gdLst/>
            <a:ahLst/>
            <a:cxnLst/>
            <a:rect r="r" b="b" t="t" l="l"/>
            <a:pathLst>
              <a:path h="849363" w="498808">
                <a:moveTo>
                  <a:pt x="0" y="0"/>
                </a:moveTo>
                <a:lnTo>
                  <a:pt x="498808" y="0"/>
                </a:lnTo>
                <a:lnTo>
                  <a:pt x="498808" y="849363"/>
                </a:lnTo>
                <a:lnTo>
                  <a:pt x="0" y="8493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54440" y="1187768"/>
            <a:ext cx="11643450" cy="5661627"/>
          </a:xfrm>
          <a:custGeom>
            <a:avLst/>
            <a:gdLst/>
            <a:ahLst/>
            <a:cxnLst/>
            <a:rect r="r" b="b" t="t" l="l"/>
            <a:pathLst>
              <a:path h="5661627" w="11643450">
                <a:moveTo>
                  <a:pt x="0" y="0"/>
                </a:moveTo>
                <a:lnTo>
                  <a:pt x="11643450" y="0"/>
                </a:lnTo>
                <a:lnTo>
                  <a:pt x="11643450" y="5661627"/>
                </a:lnTo>
                <a:lnTo>
                  <a:pt x="0" y="5661627"/>
                </a:lnTo>
                <a:lnTo>
                  <a:pt x="0" y="0"/>
                </a:lnTo>
                <a:close/>
              </a:path>
            </a:pathLst>
          </a:custGeom>
          <a:blipFill>
            <a:blip r:embed="rId4"/>
            <a:stretch>
              <a:fillRect l="0" t="0" r="0" b="0"/>
            </a:stretch>
          </a:blipFill>
        </p:spPr>
      </p:sp>
      <p:sp>
        <p:nvSpPr>
          <p:cNvPr name="TextBox 4" id="4"/>
          <p:cNvSpPr txBox="true"/>
          <p:nvPr/>
        </p:nvSpPr>
        <p:spPr>
          <a:xfrm rot="0">
            <a:off x="1028700" y="981075"/>
            <a:ext cx="2306729" cy="365760"/>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Fradel and Spies</a:t>
            </a:r>
          </a:p>
        </p:txBody>
      </p:sp>
      <p:sp>
        <p:nvSpPr>
          <p:cNvPr name="TextBox 5" id="5"/>
          <p:cNvSpPr txBox="true"/>
          <p:nvPr/>
        </p:nvSpPr>
        <p:spPr>
          <a:xfrm rot="0">
            <a:off x="15897890" y="981075"/>
            <a:ext cx="1350178" cy="365760"/>
          </a:xfrm>
          <a:prstGeom prst="rect">
            <a:avLst/>
          </a:prstGeom>
        </p:spPr>
        <p:txBody>
          <a:bodyPr anchor="t" rtlCol="false" tIns="0" lIns="0" bIns="0" rIns="0">
            <a:spAutoFit/>
          </a:bodyPr>
          <a:lstStyle/>
          <a:p>
            <a:pPr algn="r">
              <a:lnSpc>
                <a:spcPts val="2940"/>
              </a:lnSpc>
            </a:pPr>
            <a:r>
              <a:rPr lang="en-US" b="true" sz="2100">
                <a:solidFill>
                  <a:srgbClr val="000000"/>
                </a:solidFill>
                <a:latin typeface="Inter Medium"/>
                <a:ea typeface="Inter Medium"/>
                <a:cs typeface="Inter Medium"/>
                <a:sym typeface="Inter Medium"/>
              </a:rPr>
              <a:t>Page 05</a:t>
            </a:r>
          </a:p>
        </p:txBody>
      </p:sp>
      <p:sp>
        <p:nvSpPr>
          <p:cNvPr name="TextBox 6" id="6"/>
          <p:cNvSpPr txBox="true"/>
          <p:nvPr/>
        </p:nvSpPr>
        <p:spPr>
          <a:xfrm rot="0">
            <a:off x="1028700" y="2277691"/>
            <a:ext cx="3817497" cy="1740890"/>
          </a:xfrm>
          <a:prstGeom prst="rect">
            <a:avLst/>
          </a:prstGeom>
        </p:spPr>
        <p:txBody>
          <a:bodyPr anchor="t" rtlCol="false" tIns="0" lIns="0" bIns="0" rIns="0">
            <a:spAutoFit/>
          </a:bodyPr>
          <a:lstStyle/>
          <a:p>
            <a:pPr algn="l">
              <a:lnSpc>
                <a:spcPts val="4569"/>
              </a:lnSpc>
            </a:pPr>
            <a:r>
              <a:rPr lang="en-US" sz="3807">
                <a:solidFill>
                  <a:srgbClr val="000000"/>
                </a:solidFill>
                <a:latin typeface="Anton"/>
                <a:ea typeface="Anton"/>
                <a:cs typeface="Anton"/>
                <a:sym typeface="Anton"/>
              </a:rPr>
              <a:t>MELAKUKAN EKSTRAKSI FITUR TEKSTUR </a:t>
            </a:r>
          </a:p>
        </p:txBody>
      </p:sp>
      <p:sp>
        <p:nvSpPr>
          <p:cNvPr name="TextBox 7" id="7"/>
          <p:cNvSpPr txBox="true"/>
          <p:nvPr/>
        </p:nvSpPr>
        <p:spPr>
          <a:xfrm rot="0">
            <a:off x="1028700" y="7090675"/>
            <a:ext cx="13118956" cy="2506980"/>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Source co</a:t>
            </a:r>
            <a:r>
              <a:rPr lang="en-US" sz="1800">
                <a:solidFill>
                  <a:srgbClr val="000000"/>
                </a:solidFill>
                <a:latin typeface="Inter"/>
                <a:ea typeface="Inter"/>
                <a:cs typeface="Inter"/>
                <a:sym typeface="Inter"/>
              </a:rPr>
              <a:t>de tersebut digunakan untuk melakukan ekstraksi fitur tekstur dari kumpulan citra menggunakan metode GLCM (Gray Level Co-occurrence Matrix). Program diawali dengan mengimpor beberapa library seperti OpenCV untuk pengolahan citra, NumPy untuk operasi numerik, serta graycomatrix dan graycoprops dari skimage untuk menghitung matriks GLCM dan properti teksturnya. Selanjutnya, program membaca semua file gambar dalam folder yang telah ditentukan, lalu mengubah setiap citra dari format warna BGR menjadi grayscale. Setelah itu, dihitung matriks GLCM berdasarkan beberapa sudut (0°, 45°, 90°, dan 135°) dengan jarak piksel tertentu. Dari matriks tersebut, program mengekstraksi beberapa fitur tekstur penting yaitu energi, kontras, korelasi, dan homogenitas, kemudian mengambil nilai rata-ratanya sebagai representasi karakteristik tekstur citra.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09896" y="7761428"/>
            <a:ext cx="498808" cy="849363"/>
          </a:xfrm>
          <a:custGeom>
            <a:avLst/>
            <a:gdLst/>
            <a:ahLst/>
            <a:cxnLst/>
            <a:rect r="r" b="b" t="t" l="l"/>
            <a:pathLst>
              <a:path h="849363" w="498808">
                <a:moveTo>
                  <a:pt x="0" y="0"/>
                </a:moveTo>
                <a:lnTo>
                  <a:pt x="498808" y="0"/>
                </a:lnTo>
                <a:lnTo>
                  <a:pt x="498808" y="849363"/>
                </a:lnTo>
                <a:lnTo>
                  <a:pt x="0" y="8493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9677" y="1346835"/>
            <a:ext cx="11228213" cy="5606881"/>
          </a:xfrm>
          <a:custGeom>
            <a:avLst/>
            <a:gdLst/>
            <a:ahLst/>
            <a:cxnLst/>
            <a:rect r="r" b="b" t="t" l="l"/>
            <a:pathLst>
              <a:path h="5606881" w="11228213">
                <a:moveTo>
                  <a:pt x="0" y="0"/>
                </a:moveTo>
                <a:lnTo>
                  <a:pt x="11228213" y="0"/>
                </a:lnTo>
                <a:lnTo>
                  <a:pt x="11228213" y="5606881"/>
                </a:lnTo>
                <a:lnTo>
                  <a:pt x="0" y="5606881"/>
                </a:lnTo>
                <a:lnTo>
                  <a:pt x="0" y="0"/>
                </a:lnTo>
                <a:close/>
              </a:path>
            </a:pathLst>
          </a:custGeom>
          <a:blipFill>
            <a:blip r:embed="rId4"/>
            <a:stretch>
              <a:fillRect l="0" t="0" r="0" b="0"/>
            </a:stretch>
          </a:blipFill>
        </p:spPr>
      </p:sp>
      <p:sp>
        <p:nvSpPr>
          <p:cNvPr name="TextBox 4" id="4"/>
          <p:cNvSpPr txBox="true"/>
          <p:nvPr/>
        </p:nvSpPr>
        <p:spPr>
          <a:xfrm rot="0">
            <a:off x="1028700" y="981075"/>
            <a:ext cx="2306729" cy="365760"/>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Fradel and Spies</a:t>
            </a:r>
          </a:p>
        </p:txBody>
      </p:sp>
      <p:sp>
        <p:nvSpPr>
          <p:cNvPr name="TextBox 5" id="5"/>
          <p:cNvSpPr txBox="true"/>
          <p:nvPr/>
        </p:nvSpPr>
        <p:spPr>
          <a:xfrm rot="0">
            <a:off x="15897890" y="981075"/>
            <a:ext cx="1350178" cy="365760"/>
          </a:xfrm>
          <a:prstGeom prst="rect">
            <a:avLst/>
          </a:prstGeom>
        </p:spPr>
        <p:txBody>
          <a:bodyPr anchor="t" rtlCol="false" tIns="0" lIns="0" bIns="0" rIns="0">
            <a:spAutoFit/>
          </a:bodyPr>
          <a:lstStyle/>
          <a:p>
            <a:pPr algn="r">
              <a:lnSpc>
                <a:spcPts val="2940"/>
              </a:lnSpc>
            </a:pPr>
            <a:r>
              <a:rPr lang="en-US" b="true" sz="2100">
                <a:solidFill>
                  <a:srgbClr val="000000"/>
                </a:solidFill>
                <a:latin typeface="Inter Medium"/>
                <a:ea typeface="Inter Medium"/>
                <a:cs typeface="Inter Medium"/>
                <a:sym typeface="Inter Medium"/>
              </a:rPr>
              <a:t>Page 06</a:t>
            </a:r>
          </a:p>
        </p:txBody>
      </p:sp>
      <p:sp>
        <p:nvSpPr>
          <p:cNvPr name="TextBox 6" id="6"/>
          <p:cNvSpPr txBox="true"/>
          <p:nvPr/>
        </p:nvSpPr>
        <p:spPr>
          <a:xfrm rot="0">
            <a:off x="1028700" y="2277691"/>
            <a:ext cx="3817497" cy="1740890"/>
          </a:xfrm>
          <a:prstGeom prst="rect">
            <a:avLst/>
          </a:prstGeom>
        </p:spPr>
        <p:txBody>
          <a:bodyPr anchor="t" rtlCol="false" tIns="0" lIns="0" bIns="0" rIns="0">
            <a:spAutoFit/>
          </a:bodyPr>
          <a:lstStyle/>
          <a:p>
            <a:pPr algn="l">
              <a:lnSpc>
                <a:spcPts val="4569"/>
              </a:lnSpc>
            </a:pPr>
            <a:r>
              <a:rPr lang="en-US" sz="3807">
                <a:solidFill>
                  <a:srgbClr val="000000"/>
                </a:solidFill>
                <a:latin typeface="Anton"/>
                <a:ea typeface="Anton"/>
                <a:cs typeface="Anton"/>
                <a:sym typeface="Anton"/>
              </a:rPr>
              <a:t>MELAKUKAN EKSTRAKSI FITUR TEKSTUR </a:t>
            </a:r>
          </a:p>
        </p:txBody>
      </p:sp>
      <p:sp>
        <p:nvSpPr>
          <p:cNvPr name="TextBox 7" id="7"/>
          <p:cNvSpPr txBox="true"/>
          <p:nvPr/>
        </p:nvSpPr>
        <p:spPr>
          <a:xfrm rot="0">
            <a:off x="1028700" y="7090675"/>
            <a:ext cx="13118956" cy="15640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source co</a:t>
            </a:r>
            <a:r>
              <a:rPr lang="en-US" sz="1800">
                <a:solidFill>
                  <a:srgbClr val="000000"/>
                </a:solidFill>
                <a:latin typeface="Inter"/>
                <a:ea typeface="Inter"/>
                <a:cs typeface="Inter"/>
                <a:sym typeface="Inter"/>
              </a:rPr>
              <a:t>de tersebut berfungsi untuk menyimpan dan menampilkan hasil ekstraksi fitur tekstur dari setiap citra. Nilai fitur yang telah dihitung (energi, kontras, korelasi, dan homogenitas) bersama nama file dimasukkan ke dalam array nilai_fitur sebagai satu baris data. Setelah itu, program mencetak informasi ke layar berupa nama file dan masing-masing nilai fitur dengan format tiga angka di belakang koma agar lebih rapi. Jika file yang dibaca bukan termasuk format gambar, maka program hanya mencetak nama file tersebut tanpa melakukan proses ekstraksi fitur.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78324">
            <a:off x="748546" y="8459969"/>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09896" y="5301128"/>
            <a:ext cx="498808" cy="849363"/>
          </a:xfrm>
          <a:custGeom>
            <a:avLst/>
            <a:gdLst/>
            <a:ahLst/>
            <a:cxnLst/>
            <a:rect r="r" b="b" t="t" l="l"/>
            <a:pathLst>
              <a:path h="849363" w="498808">
                <a:moveTo>
                  <a:pt x="0" y="0"/>
                </a:moveTo>
                <a:lnTo>
                  <a:pt x="498808" y="0"/>
                </a:lnTo>
                <a:lnTo>
                  <a:pt x="498808" y="849363"/>
                </a:lnTo>
                <a:lnTo>
                  <a:pt x="0" y="8493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5726762"/>
            <a:ext cx="11301259" cy="1469164"/>
          </a:xfrm>
          <a:custGeom>
            <a:avLst/>
            <a:gdLst/>
            <a:ahLst/>
            <a:cxnLst/>
            <a:rect r="r" b="b" t="t" l="l"/>
            <a:pathLst>
              <a:path h="1469164" w="11301259">
                <a:moveTo>
                  <a:pt x="0" y="0"/>
                </a:moveTo>
                <a:lnTo>
                  <a:pt x="11301259" y="0"/>
                </a:lnTo>
                <a:lnTo>
                  <a:pt x="11301259" y="1469164"/>
                </a:lnTo>
                <a:lnTo>
                  <a:pt x="0" y="1469164"/>
                </a:lnTo>
                <a:lnTo>
                  <a:pt x="0" y="0"/>
                </a:lnTo>
                <a:close/>
              </a:path>
            </a:pathLst>
          </a:custGeom>
          <a:blipFill>
            <a:blip r:embed="rId6"/>
            <a:stretch>
              <a:fillRect l="0" t="0" r="0" b="0"/>
            </a:stretch>
          </a:blipFill>
        </p:spPr>
      </p:sp>
      <p:sp>
        <p:nvSpPr>
          <p:cNvPr name="Freeform 5" id="5"/>
          <p:cNvSpPr/>
          <p:nvPr/>
        </p:nvSpPr>
        <p:spPr>
          <a:xfrm flipH="false" flipV="false" rot="0">
            <a:off x="3198930" y="8115257"/>
            <a:ext cx="11301259" cy="1455037"/>
          </a:xfrm>
          <a:custGeom>
            <a:avLst/>
            <a:gdLst/>
            <a:ahLst/>
            <a:cxnLst/>
            <a:rect r="r" b="b" t="t" l="l"/>
            <a:pathLst>
              <a:path h="1455037" w="11301259">
                <a:moveTo>
                  <a:pt x="0" y="0"/>
                </a:moveTo>
                <a:lnTo>
                  <a:pt x="11301259" y="0"/>
                </a:lnTo>
                <a:lnTo>
                  <a:pt x="11301259" y="1455037"/>
                </a:lnTo>
                <a:lnTo>
                  <a:pt x="0" y="1455037"/>
                </a:lnTo>
                <a:lnTo>
                  <a:pt x="0" y="0"/>
                </a:lnTo>
                <a:close/>
              </a:path>
            </a:pathLst>
          </a:custGeom>
          <a:blipFill>
            <a:blip r:embed="rId7"/>
            <a:stretch>
              <a:fillRect l="0" t="0" r="0" b="0"/>
            </a:stretch>
          </a:blipFill>
        </p:spPr>
      </p:sp>
      <p:sp>
        <p:nvSpPr>
          <p:cNvPr name="TextBox 6" id="6"/>
          <p:cNvSpPr txBox="true"/>
          <p:nvPr/>
        </p:nvSpPr>
        <p:spPr>
          <a:xfrm rot="0">
            <a:off x="1028700" y="981075"/>
            <a:ext cx="2306729" cy="365760"/>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Fradel and Spies</a:t>
            </a:r>
          </a:p>
        </p:txBody>
      </p:sp>
      <p:sp>
        <p:nvSpPr>
          <p:cNvPr name="TextBox 7" id="7"/>
          <p:cNvSpPr txBox="true"/>
          <p:nvPr/>
        </p:nvSpPr>
        <p:spPr>
          <a:xfrm rot="0">
            <a:off x="15897890" y="981075"/>
            <a:ext cx="1350178" cy="365760"/>
          </a:xfrm>
          <a:prstGeom prst="rect">
            <a:avLst/>
          </a:prstGeom>
        </p:spPr>
        <p:txBody>
          <a:bodyPr anchor="t" rtlCol="false" tIns="0" lIns="0" bIns="0" rIns="0">
            <a:spAutoFit/>
          </a:bodyPr>
          <a:lstStyle/>
          <a:p>
            <a:pPr algn="r">
              <a:lnSpc>
                <a:spcPts val="2940"/>
              </a:lnSpc>
            </a:pPr>
            <a:r>
              <a:rPr lang="en-US" b="true" sz="2100">
                <a:solidFill>
                  <a:srgbClr val="000000"/>
                </a:solidFill>
                <a:latin typeface="Inter Medium"/>
                <a:ea typeface="Inter Medium"/>
                <a:cs typeface="Inter Medium"/>
                <a:sym typeface="Inter Medium"/>
              </a:rPr>
              <a:t>Page 07</a:t>
            </a:r>
          </a:p>
        </p:txBody>
      </p:sp>
      <p:sp>
        <p:nvSpPr>
          <p:cNvPr name="TextBox 8" id="8"/>
          <p:cNvSpPr txBox="true"/>
          <p:nvPr/>
        </p:nvSpPr>
        <p:spPr>
          <a:xfrm rot="0">
            <a:off x="1028700" y="2099660"/>
            <a:ext cx="4637285" cy="666458"/>
          </a:xfrm>
          <a:prstGeom prst="rect">
            <a:avLst/>
          </a:prstGeom>
        </p:spPr>
        <p:txBody>
          <a:bodyPr anchor="t" rtlCol="false" tIns="0" lIns="0" bIns="0" rIns="0">
            <a:spAutoFit/>
          </a:bodyPr>
          <a:lstStyle/>
          <a:p>
            <a:pPr algn="l">
              <a:lnSpc>
                <a:spcPts val="5247"/>
              </a:lnSpc>
            </a:pPr>
            <a:r>
              <a:rPr lang="en-US" sz="4373">
                <a:solidFill>
                  <a:srgbClr val="000000"/>
                </a:solidFill>
                <a:latin typeface="Anton"/>
                <a:ea typeface="Anton"/>
                <a:cs typeface="Anton"/>
                <a:sym typeface="Anton"/>
              </a:rPr>
              <a:t>SIMPAN KE CSV &amp; ECEL</a:t>
            </a:r>
          </a:p>
        </p:txBody>
      </p:sp>
      <p:sp>
        <p:nvSpPr>
          <p:cNvPr name="TextBox 9" id="9"/>
          <p:cNvSpPr txBox="true"/>
          <p:nvPr/>
        </p:nvSpPr>
        <p:spPr>
          <a:xfrm rot="0">
            <a:off x="6679329" y="2794148"/>
            <a:ext cx="9893649" cy="2506980"/>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Source code tersebut berfungsi untuk menyimpan hasil ekstraksi fitu</a:t>
            </a:r>
            <a:r>
              <a:rPr lang="en-US" sz="1800">
                <a:solidFill>
                  <a:srgbClr val="000000"/>
                </a:solidFill>
                <a:latin typeface="Inter"/>
                <a:ea typeface="Inter"/>
                <a:cs typeface="Inter"/>
                <a:sym typeface="Inter"/>
              </a:rPr>
              <a:t>r yang telah dikumpulkan dalam variabel nilai_fitur ke dalam bentuk file data. Pertama, data diubah menjadi DataFrame menggunakan library pandas dengan nama kolom seperti File Name, Energy, Contrast, Correlation, dan Homogeneity. Kemudian, data tersebut disimpan ke dalam file CSV menggunakan to_csv() dan ke dalam file Excel menggunakan to_excel() pada lokasi yang telah ditentukan di Google Drive. Parameter index=False digunakan agar indeks baris tidak ikut tersimpan. Terakhir, program menampilkan pesan bahwa file CSV dan Excel berhasil dibuat dan disimpan.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81075"/>
            <a:ext cx="2306729" cy="365760"/>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Fradel and Spies</a:t>
            </a:r>
          </a:p>
        </p:txBody>
      </p:sp>
      <p:sp>
        <p:nvSpPr>
          <p:cNvPr name="TextBox 3" id="3"/>
          <p:cNvSpPr txBox="true"/>
          <p:nvPr/>
        </p:nvSpPr>
        <p:spPr>
          <a:xfrm rot="0">
            <a:off x="15897890" y="981075"/>
            <a:ext cx="1350178" cy="365760"/>
          </a:xfrm>
          <a:prstGeom prst="rect">
            <a:avLst/>
          </a:prstGeom>
        </p:spPr>
        <p:txBody>
          <a:bodyPr anchor="t" rtlCol="false" tIns="0" lIns="0" bIns="0" rIns="0">
            <a:spAutoFit/>
          </a:bodyPr>
          <a:lstStyle/>
          <a:p>
            <a:pPr algn="r">
              <a:lnSpc>
                <a:spcPts val="2940"/>
              </a:lnSpc>
            </a:pPr>
            <a:r>
              <a:rPr lang="en-US" b="true" sz="2100">
                <a:solidFill>
                  <a:srgbClr val="000000"/>
                </a:solidFill>
                <a:latin typeface="Inter Medium"/>
                <a:ea typeface="Inter Medium"/>
                <a:cs typeface="Inter Medium"/>
                <a:sym typeface="Inter Medium"/>
              </a:rPr>
              <a:t>Page 08</a:t>
            </a:r>
          </a:p>
        </p:txBody>
      </p:sp>
      <p:sp>
        <p:nvSpPr>
          <p:cNvPr name="TextBox 4" id="4"/>
          <p:cNvSpPr txBox="true"/>
          <p:nvPr/>
        </p:nvSpPr>
        <p:spPr>
          <a:xfrm rot="0">
            <a:off x="6468543" y="4087147"/>
            <a:ext cx="5350914" cy="1571625"/>
          </a:xfrm>
          <a:prstGeom prst="rect">
            <a:avLst/>
          </a:prstGeom>
        </p:spPr>
        <p:txBody>
          <a:bodyPr anchor="t" rtlCol="false" tIns="0" lIns="0" bIns="0" rIns="0">
            <a:spAutoFit/>
          </a:bodyPr>
          <a:lstStyle/>
          <a:p>
            <a:pPr algn="l">
              <a:lnSpc>
                <a:spcPts val="12480"/>
              </a:lnSpc>
            </a:pPr>
            <a:r>
              <a:rPr lang="en-US" sz="10400">
                <a:solidFill>
                  <a:srgbClr val="000000"/>
                </a:solidFill>
                <a:latin typeface="Anton"/>
                <a:ea typeface="Anton"/>
                <a:cs typeface="Anton"/>
                <a:sym typeface="Anton"/>
              </a:rPr>
              <a:t>THANK YOU </a:t>
            </a:r>
          </a:p>
        </p:txBody>
      </p:sp>
      <p:sp>
        <p:nvSpPr>
          <p:cNvPr name="Freeform 5" id="5"/>
          <p:cNvSpPr/>
          <p:nvPr/>
        </p:nvSpPr>
        <p:spPr>
          <a:xfrm flipH="false" flipV="false" rot="678324">
            <a:off x="15413195" y="7732275"/>
            <a:ext cx="969389" cy="1306774"/>
          </a:xfrm>
          <a:custGeom>
            <a:avLst/>
            <a:gdLst/>
            <a:ahLst/>
            <a:cxnLst/>
            <a:rect r="r" b="b" t="t" l="l"/>
            <a:pathLst>
              <a:path h="1306774" w="969389">
                <a:moveTo>
                  <a:pt x="0" y="0"/>
                </a:moveTo>
                <a:lnTo>
                  <a:pt x="969389" y="0"/>
                </a:lnTo>
                <a:lnTo>
                  <a:pt x="969389" y="1306774"/>
                </a:lnTo>
                <a:lnTo>
                  <a:pt x="0" y="13067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03512" y="3863487"/>
            <a:ext cx="1127677" cy="1127677"/>
          </a:xfrm>
          <a:custGeom>
            <a:avLst/>
            <a:gdLst/>
            <a:ahLst/>
            <a:cxnLst/>
            <a:rect r="r" b="b" t="t" l="l"/>
            <a:pathLst>
              <a:path h="1127677" w="1127677">
                <a:moveTo>
                  <a:pt x="0" y="0"/>
                </a:moveTo>
                <a:lnTo>
                  <a:pt x="1127677" y="0"/>
                </a:lnTo>
                <a:lnTo>
                  <a:pt x="1127677" y="1127677"/>
                </a:lnTo>
                <a:lnTo>
                  <a:pt x="0" y="1127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DAHF9g0E7as</dc:identifier>
  <dcterms:modified xsi:type="dcterms:W3CDTF">2011-08-01T06:04:30Z</dcterms:modified>
  <cp:revision>1</cp:revision>
  <dc:title>Computer vision</dc:title>
</cp:coreProperties>
</file>